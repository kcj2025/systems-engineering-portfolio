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7772400" cy="10058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  <p:ext uri="{1BD7E111-0CB8-44D6-8891-C1BB2F81B7CC}">
      <p1710:readonlyRecommended xmlns:p1710="http://schemas.microsoft.com/office/powerpoint/2017/10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62" d="100"/>
          <a:sy n="62" d="100"/>
        </p:scale>
        <p:origin x="2318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D5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20040" y="373171"/>
            <a:ext cx="1005840" cy="1005840"/>
          </a:xfrm>
          <a:prstGeom prst="rect">
            <a:avLst/>
          </a:prstGeom>
          <a:solidFill>
            <a:srgbClr val="00B05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 b="1">
                <a:solidFill>
                  <a:srgbClr val="000000"/>
                </a:solidFill>
              </a:defRPr>
            </a:pPr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1698743" y="388860"/>
            <a:ext cx="1005840" cy="1005840"/>
          </a:xfrm>
          <a:prstGeom prst="rect">
            <a:avLst/>
          </a:prstGeom>
          <a:solidFill>
            <a:srgbClr val="FFC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 b="1">
                <a:solidFill>
                  <a:srgbClr val="000000"/>
                </a:solidFill>
              </a:defRPr>
            </a:pPr>
            <a:endParaRPr dirty="0"/>
          </a:p>
        </p:txBody>
      </p:sp>
      <p:sp>
        <p:nvSpPr>
          <p:cNvPr id="4" name="Rectangle 3"/>
          <p:cNvSpPr/>
          <p:nvPr/>
        </p:nvSpPr>
        <p:spPr>
          <a:xfrm>
            <a:off x="3149736" y="375643"/>
            <a:ext cx="1005840" cy="1005840"/>
          </a:xfrm>
          <a:prstGeom prst="rect">
            <a:avLst/>
          </a:prstGeom>
          <a:solidFill>
            <a:srgbClr val="FFC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 b="1">
                <a:solidFill>
                  <a:srgbClr val="000000"/>
                </a:solidFill>
              </a:defRPr>
            </a:pPr>
            <a:endParaRPr dirty="0"/>
          </a:p>
        </p:txBody>
      </p:sp>
      <p:sp>
        <p:nvSpPr>
          <p:cNvPr id="5" name="Rectangle 4"/>
          <p:cNvSpPr/>
          <p:nvPr/>
        </p:nvSpPr>
        <p:spPr>
          <a:xfrm>
            <a:off x="4778754" y="375643"/>
            <a:ext cx="1005840" cy="100584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 b="1">
                <a:solidFill>
                  <a:srgbClr val="000000"/>
                </a:solidFill>
              </a:defRPr>
            </a:pPr>
            <a:endParaRPr dirty="0"/>
          </a:p>
        </p:txBody>
      </p:sp>
      <p:sp>
        <p:nvSpPr>
          <p:cNvPr id="6" name="Rectangle 5"/>
          <p:cNvSpPr/>
          <p:nvPr/>
        </p:nvSpPr>
        <p:spPr>
          <a:xfrm>
            <a:off x="0" y="1554480"/>
            <a:ext cx="7772400" cy="109728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0" y="1554480"/>
            <a:ext cx="7183377" cy="101566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6000" b="1">
                <a:solidFill>
                  <a:srgbClr val="000000"/>
                </a:solidFill>
              </a:defRPr>
            </a:pPr>
            <a:r>
              <a:rPr lang="en-US" dirty="0"/>
              <a:t>         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NO LITTERING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9437" y="2685045"/>
            <a:ext cx="6343788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/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DESCRIPTION OF THE HAZARD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8531" y="3070804"/>
            <a:ext cx="6343788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just">
              <a:defRPr sz="2200"/>
            </a:pPr>
            <a:r>
              <a:rPr dirty="0"/>
              <a:t>Littering harms the campus environment and violates </a:t>
            </a:r>
            <a:endParaRPr lang="en-US" dirty="0"/>
          </a:p>
          <a:p>
            <a:pPr algn="just">
              <a:defRPr sz="2200"/>
            </a:pPr>
            <a:r>
              <a:rPr dirty="0"/>
              <a:t>Texas state law and university regulations.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546566" y="3748805"/>
            <a:ext cx="6675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rPr dirty="0"/>
              <a:t>CONSEQUENCES OF THE HAZARD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8845" y="4140101"/>
            <a:ext cx="2929713" cy="32008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rPr dirty="0"/>
              <a:t>Legal Penalties</a:t>
            </a:r>
            <a:endParaRPr lang="en-US" dirty="0"/>
          </a:p>
          <a:p>
            <a:pPr>
              <a:defRPr sz="2400" b="1"/>
            </a:pPr>
            <a:endParaRPr dirty="0"/>
          </a:p>
          <a:p>
            <a:pPr>
              <a:defRPr sz="2200"/>
            </a:pPr>
            <a:r>
              <a:rPr dirty="0"/>
              <a:t>• 30 days imprisonment</a:t>
            </a:r>
            <a:endParaRPr lang="en-US" dirty="0"/>
          </a:p>
          <a:p>
            <a:pPr>
              <a:defRPr sz="2200"/>
            </a:pPr>
            <a:endParaRPr dirty="0"/>
          </a:p>
          <a:p>
            <a:pPr>
              <a:defRPr sz="2200"/>
            </a:pPr>
            <a:r>
              <a:rPr dirty="0"/>
              <a:t>• 30 days probation</a:t>
            </a:r>
            <a:endParaRPr lang="en-US" dirty="0"/>
          </a:p>
          <a:p>
            <a:pPr>
              <a:defRPr sz="2200"/>
            </a:pPr>
            <a:endParaRPr dirty="0"/>
          </a:p>
          <a:p>
            <a:pPr>
              <a:defRPr sz="2200"/>
            </a:pPr>
            <a:r>
              <a:rPr dirty="0"/>
              <a:t>• Community service</a:t>
            </a:r>
            <a:endParaRPr lang="en-US" dirty="0"/>
          </a:p>
          <a:p>
            <a:pPr>
              <a:defRPr sz="2200"/>
            </a:pPr>
            <a:endParaRPr dirty="0"/>
          </a:p>
          <a:p>
            <a:pPr>
              <a:defRPr sz="2200"/>
            </a:pPr>
            <a:r>
              <a:rPr dirty="0"/>
              <a:t>• Fines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41409" y="4129086"/>
            <a:ext cx="3917091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/>
            </a:pPr>
            <a:r>
              <a:rPr dirty="0"/>
              <a:t>Student Conduct Penalties</a:t>
            </a:r>
          </a:p>
          <a:p>
            <a:pPr>
              <a:defRPr sz="2200"/>
            </a:pPr>
            <a:r>
              <a:rPr dirty="0"/>
              <a:t>• Mandatory campus cleaning duty</a:t>
            </a:r>
          </a:p>
          <a:p>
            <a:pPr>
              <a:defRPr sz="2200"/>
            </a:pPr>
            <a:r>
              <a:rPr dirty="0"/>
              <a:t>• Loss of eligibility for scholarships, grants,</a:t>
            </a:r>
            <a:r>
              <a:rPr lang="en-US" dirty="0"/>
              <a:t> funding applications, and </a:t>
            </a:r>
            <a:r>
              <a:rPr dirty="0"/>
              <a:t>exchange programs</a:t>
            </a:r>
          </a:p>
          <a:p>
            <a:pPr>
              <a:defRPr sz="2200"/>
            </a:pPr>
            <a:r>
              <a:rPr dirty="0"/>
              <a:t>• Required environmental protection course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199" y="7210717"/>
            <a:ext cx="6675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rPr dirty="0"/>
              <a:t>BEHAVIOR REQUIRED TO AVOID THE HAZARD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199" y="7759419"/>
            <a:ext cx="5056577" cy="430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rPr lang="en-US" dirty="0"/>
              <a:t>    </a:t>
            </a:r>
            <a:r>
              <a:rPr dirty="0"/>
              <a:t> </a:t>
            </a:r>
            <a:r>
              <a:rPr lang="en-US" dirty="0"/>
              <a:t> </a:t>
            </a:r>
            <a:r>
              <a:rPr dirty="0"/>
              <a:t>Place trash only in marked campus bins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4460" y="8226504"/>
            <a:ext cx="4495974" cy="430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rPr lang="en-US" dirty="0"/>
              <a:t>   </a:t>
            </a:r>
            <a:r>
              <a:rPr dirty="0"/>
              <a:t> </a:t>
            </a:r>
            <a:r>
              <a:rPr lang="en-US" dirty="0"/>
              <a:t> </a:t>
            </a:r>
            <a:r>
              <a:rPr dirty="0"/>
              <a:t>Recycle items in labeled containers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1684" y="8683704"/>
            <a:ext cx="6319294" cy="430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rPr lang="en-US" dirty="0"/>
              <a:t>    </a:t>
            </a:r>
            <a:r>
              <a:rPr dirty="0"/>
              <a:t> Report full or overflowing bins to Facilities Services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4460" y="9099516"/>
            <a:ext cx="6675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rPr dirty="0"/>
              <a:t>WHERE / WHEN THE HAZARD OCCURS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0736" y="9530403"/>
            <a:ext cx="7517764" cy="430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rPr lang="en-US" dirty="0"/>
              <a:t>This rule is applicable throughout the entire campus at all times.</a:t>
            </a:r>
            <a:endParaRPr dirty="0"/>
          </a:p>
        </p:txBody>
      </p:sp>
      <p:pic>
        <p:nvPicPr>
          <p:cNvPr id="20" name="Graphic 19" descr="Sustainability with solid fill">
            <a:extLst>
              <a:ext uri="{FF2B5EF4-FFF2-40B4-BE49-F238E27FC236}">
                <a16:creationId xmlns:a16="http://schemas.microsoft.com/office/drawing/2014/main" id="{E0A642A7-1DC2-9581-E056-9564739608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1400" y="421363"/>
            <a:ext cx="914400" cy="914400"/>
          </a:xfrm>
          <a:prstGeom prst="rect">
            <a:avLst/>
          </a:prstGeom>
        </p:spPr>
      </p:pic>
      <p:pic>
        <p:nvPicPr>
          <p:cNvPr id="22" name="Graphic 21" descr="Scales of justice with solid fill">
            <a:extLst>
              <a:ext uri="{FF2B5EF4-FFF2-40B4-BE49-F238E27FC236}">
                <a16:creationId xmlns:a16="http://schemas.microsoft.com/office/drawing/2014/main" id="{FF926AB1-8FB3-3B64-D427-DBACD051E84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744463" y="383808"/>
            <a:ext cx="914400" cy="914400"/>
          </a:xfrm>
          <a:prstGeom prst="rect">
            <a:avLst/>
          </a:prstGeom>
        </p:spPr>
      </p:pic>
      <p:pic>
        <p:nvPicPr>
          <p:cNvPr id="24" name="Graphic 23" descr="No Littering with solid fill">
            <a:extLst>
              <a:ext uri="{FF2B5EF4-FFF2-40B4-BE49-F238E27FC236}">
                <a16:creationId xmlns:a16="http://schemas.microsoft.com/office/drawing/2014/main" id="{529C49A5-D1FC-623D-7987-DA260328AEC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104016" y="436706"/>
            <a:ext cx="914400" cy="914400"/>
          </a:xfrm>
          <a:prstGeom prst="rect">
            <a:avLst/>
          </a:prstGeom>
        </p:spPr>
      </p:pic>
      <p:pic>
        <p:nvPicPr>
          <p:cNvPr id="26" name="Graphic 25" descr="No Littering with solid fill">
            <a:extLst>
              <a:ext uri="{FF2B5EF4-FFF2-40B4-BE49-F238E27FC236}">
                <a16:creationId xmlns:a16="http://schemas.microsoft.com/office/drawing/2014/main" id="{28444717-2003-F323-7FED-2AAE9C8B9EC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808715" y="453286"/>
            <a:ext cx="914400" cy="914400"/>
          </a:xfrm>
          <a:prstGeom prst="rect">
            <a:avLst/>
          </a:prstGeom>
        </p:spPr>
      </p:pic>
      <p:sp>
        <p:nvSpPr>
          <p:cNvPr id="35" name="Rectangle 34">
            <a:extLst>
              <a:ext uri="{FF2B5EF4-FFF2-40B4-BE49-F238E27FC236}">
                <a16:creationId xmlns:a16="http://schemas.microsoft.com/office/drawing/2014/main" id="{6E7E32FB-A224-ED27-1B2E-35601F0894DC}"/>
              </a:ext>
            </a:extLst>
          </p:cNvPr>
          <p:cNvSpPr/>
          <p:nvPr/>
        </p:nvSpPr>
        <p:spPr>
          <a:xfrm>
            <a:off x="6215846" y="373050"/>
            <a:ext cx="1005840" cy="100584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 b="1">
                <a:solidFill>
                  <a:srgbClr val="000000"/>
                </a:solidFill>
              </a:defRPr>
            </a:pPr>
            <a:endParaRPr dirty="0"/>
          </a:p>
        </p:txBody>
      </p:sp>
      <p:pic>
        <p:nvPicPr>
          <p:cNvPr id="37" name="Graphic 36" descr="Flying Money with solid fill">
            <a:extLst>
              <a:ext uri="{FF2B5EF4-FFF2-40B4-BE49-F238E27FC236}">
                <a16:creationId xmlns:a16="http://schemas.microsoft.com/office/drawing/2014/main" id="{A7435BCA-2997-B10A-ECAD-0F2FDB14A5D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268977" y="481793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47</TotalTime>
  <Words>115</Words>
  <Application>Microsoft Office PowerPoint</Application>
  <PresentationFormat>Custom</PresentationFormat>
  <Paragraphs>24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Light KC</dc:creator>
  <cp:keywords/>
  <dc:description>generated using python-pptx</dc:description>
  <cp:lastModifiedBy>Kc, Jyoti</cp:lastModifiedBy>
  <cp:revision>3</cp:revision>
  <dcterms:created xsi:type="dcterms:W3CDTF">2013-01-27T09:14:16Z</dcterms:created>
  <dcterms:modified xsi:type="dcterms:W3CDTF">2025-11-15T21:52:57Z</dcterms:modified>
  <cp:category/>
</cp:coreProperties>
</file>